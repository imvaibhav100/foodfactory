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E64A19"/>
                </a:solidFill>
              </a:defRPr>
            </a:pPr>
            <a:r>
              <a:t>FoodFactory 🍽️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333333"/>
                </a:solidFill>
              </a:defRPr>
            </a:pPr>
            <a:r>
              <a:t>Modern Full-Stack Food Ordering Web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A500"/>
                </a:solidFill>
              </a:defRPr>
            </a:pPr>
            <a:r>
              <a:t>by Vaibhav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5029200"/>
            <a:ext cx="3657600" cy="4572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E64A19"/>
                </a:solidFill>
              </a:defRPr>
            </a:pPr>
            <a:r>
              <a:t>Introduction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1828800" cy="4572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7680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333333"/>
                </a:solidFill>
              </a:defRPr>
            </a:pPr>
            <a:r>
              <a:t>FoodFactory is a modern, full-stack food ordering web application designed to revolutionize the online food delivery experience.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</a:p>
          <a:p>
            <a:pPr>
              <a:spcAft>
                <a:spcPts val="800"/>
              </a:spcAft>
              <a:defRPr sz="1800" b="1">
                <a:solidFill>
                  <a:srgbClr val="333333"/>
                </a:solidFill>
              </a:defRPr>
            </a:pPr>
            <a:r>
              <a:t>Built with enterprise-grade technologies, FoodFactory provides: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A seamless platform for users to browse and order delicious food online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Robust admin management capabilities for efficient operations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Secure authentication and user management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Beautiful, responsive design for optimal user experience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</a:p>
          <a:p>
            <a:pPr>
              <a:spcAft>
                <a:spcPts val="800"/>
              </a:spcAft>
              <a:defRPr sz="1800" b="0">
                <a:solidFill>
                  <a:srgbClr val="333333"/>
                </a:solidFill>
              </a:defRPr>
            </a:pPr>
            <a:r>
              <a:t>This project demonstrates real-world application development with industry best practices.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E64A19"/>
                </a:solidFill>
              </a:defRPr>
            </a:pPr>
            <a:r>
              <a:t>Key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1828800" cy="4572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333333"/>
                </a:solidFill>
              </a:defRPr>
            </a:pPr>
            <a:r>
              <a:t>👤 User Management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Secure user registration &amp; login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Password visibility toggle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Role-based access control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333333"/>
                </a:solidFill>
              </a:defRPr>
            </a:pPr>
            <a:r>
              <a:t>🍕 Product Browsing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Wide variety of food items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Intuitive product catalog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Category-based organization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333333"/>
                </a:solidFill>
              </a:defRPr>
            </a:pPr>
            <a:r>
              <a:t>🛒 Order Management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Seamless order placement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Order success confirmation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User-friendly checkout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82880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333333"/>
                </a:solidFill>
              </a:defRPr>
            </a:pPr>
            <a:r>
              <a:t>⚙️ Admin Dashboard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Complete user management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Product CRUD operations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Admin account management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333333"/>
                </a:solidFill>
              </a:defRPr>
            </a:pPr>
            <a:r>
              <a:t>🎨 Modern UI/UX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Responsive design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Beautiful CSS styling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Mobile-friendly interface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333333"/>
                </a:solidFill>
              </a:defRPr>
            </a:pPr>
            <a:r>
              <a:t>🔒 Security Features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Spring Security integration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Secure authentication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Data validation &amp; error handling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E64A19"/>
                </a:solidFill>
              </a:defRPr>
            </a:pPr>
            <a:r>
              <a:t>Technology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2286000" cy="4572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3657600" cy="1828800"/>
          </a:xfrm>
          <a:prstGeom prst="rect">
            <a:avLst/>
          </a:prstGeom>
          <a:solidFill>
            <a:srgbClr val="FFF8F0"/>
          </a:solidFill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333333"/>
                </a:solidFill>
              </a:defRPr>
            </a:pPr>
            <a:r>
              <a:t>💻 Backend Technologies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Java 17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Spring Boot 3.1.3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Spring Security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Spring Data JPA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Maven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2011680"/>
            <a:ext cx="3657600" cy="1828800"/>
          </a:xfrm>
          <a:prstGeom prst="rect">
            <a:avLst/>
          </a:prstGeom>
          <a:solidFill>
            <a:srgbClr val="FFF8F0"/>
          </a:solidFill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333333"/>
                </a:solidFill>
              </a:defRPr>
            </a:pPr>
            <a:r>
              <a:t>🎨 Frontend Technologies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Thymeleaf Templates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HTML5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CSS3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JavaScript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Responsive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3657600" cy="1371600"/>
          </a:xfrm>
          <a:prstGeom prst="rect">
            <a:avLst/>
          </a:prstGeom>
          <a:solidFill>
            <a:srgbClr val="FFF8F0"/>
          </a:solidFill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333333"/>
                </a:solidFill>
              </a:defRPr>
            </a:pPr>
            <a:r>
              <a:t>🗄️ Database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MySQL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JPA/Hibernate ORM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JDBC Connection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114800"/>
            <a:ext cx="3657600" cy="1371600"/>
          </a:xfrm>
          <a:prstGeom prst="rect">
            <a:avLst/>
          </a:prstGeom>
          <a:solidFill>
            <a:srgbClr val="FFF8F0"/>
          </a:solidFill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333333"/>
                </a:solidFill>
              </a:defRPr>
            </a:pPr>
            <a:r>
              <a:t>🛠️ Development Tools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Git &amp; GitHub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Spring Boot DevTools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Maven Build System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E64A19"/>
                </a:solidFill>
              </a:defRPr>
            </a:pPr>
            <a:r>
              <a:t>Architecture &amp; Design Patterns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3200400" cy="4572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7680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🏗️ MVC Architecture Pattern</a:t>
            </a:r>
          </a:p>
          <a:p>
            <a:pPr>
              <a:spcAft>
                <a:spcPts val="800"/>
              </a:spcAft>
              <a:defRPr sz="1600" b="0">
                <a:solidFill>
                  <a:srgbClr val="333333"/>
                </a:solidFill>
              </a:defRPr>
            </a:pPr>
            <a:r>
              <a:t>• Model: Entity classes with JPA annotations</a:t>
            </a:r>
          </a:p>
          <a:p>
            <a:pPr>
              <a:spcAft>
                <a:spcPts val="800"/>
              </a:spcAft>
              <a:defRPr sz="1600" b="0">
                <a:solidFill>
                  <a:srgbClr val="333333"/>
                </a:solidFill>
              </a:defRPr>
            </a:pPr>
            <a:r>
              <a:t>• View: Thymeleaf templates for dynamic rendering</a:t>
            </a:r>
          </a:p>
          <a:p>
            <a:pPr>
              <a:spcAft>
                <a:spcPts val="800"/>
              </a:spcAft>
              <a:defRPr sz="1600" b="0">
                <a:solidFill>
                  <a:srgbClr val="333333"/>
                </a:solidFill>
              </a:defRPr>
            </a:pPr>
            <a:r>
              <a:t>• Controller: RESTful controllers handling HTTP requests</a:t>
            </a:r>
          </a:p>
          <a:p>
            <a:pPr>
              <a:spcAft>
                <a:spcPts val="800"/>
              </a:spcAft>
              <a:defRPr sz="2000" b="0">
                <a:solidFill>
                  <a:srgbClr val="333333"/>
                </a:solidFill>
              </a:defRPr>
            </a:pP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📦 Layered Architecture</a:t>
            </a:r>
          </a:p>
          <a:p>
            <a:pPr>
              <a:spcAft>
                <a:spcPts val="800"/>
              </a:spcAft>
              <a:defRPr sz="1600" b="0">
                <a:solidFill>
                  <a:srgbClr val="333333"/>
                </a:solidFill>
              </a:defRPr>
            </a:pPr>
            <a:r>
              <a:t>• Controller Layer: Request handling and routing</a:t>
            </a:r>
          </a:p>
          <a:p>
            <a:pPr>
              <a:spcAft>
                <a:spcPts val="800"/>
              </a:spcAft>
              <a:defRPr sz="1600" b="0">
                <a:solidFill>
                  <a:srgbClr val="333333"/>
                </a:solidFill>
              </a:defRPr>
            </a:pPr>
            <a:r>
              <a:t>• Service Layer: Business logic implementation</a:t>
            </a:r>
          </a:p>
          <a:p>
            <a:pPr>
              <a:spcAft>
                <a:spcPts val="800"/>
              </a:spcAft>
              <a:defRPr sz="1600" b="0">
                <a:solidFill>
                  <a:srgbClr val="333333"/>
                </a:solidFill>
              </a:defRPr>
            </a:pPr>
            <a:r>
              <a:t>• Repository Layer: Data access with Spring Data JPA</a:t>
            </a:r>
          </a:p>
          <a:p>
            <a:pPr>
              <a:spcAft>
                <a:spcPts val="800"/>
              </a:spcAft>
              <a:defRPr sz="1600" b="0">
                <a:solidFill>
                  <a:srgbClr val="333333"/>
                </a:solidFill>
              </a:defRPr>
            </a:pPr>
            <a:r>
              <a:t>• Entity Layer: Domain models and database mapping</a:t>
            </a:r>
          </a:p>
          <a:p>
            <a:pPr>
              <a:spcAft>
                <a:spcPts val="800"/>
              </a:spcAft>
              <a:defRPr sz="2000" b="0">
                <a:solidFill>
                  <a:srgbClr val="333333"/>
                </a:solidFill>
              </a:defRPr>
            </a:pP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🎯 Key Design Principles</a:t>
            </a:r>
          </a:p>
          <a:p>
            <a:pPr>
              <a:spcAft>
                <a:spcPts val="800"/>
              </a:spcAft>
              <a:defRPr sz="1600" b="0">
                <a:solidFill>
                  <a:srgbClr val="333333"/>
                </a:solidFill>
              </a:defRPr>
            </a:pPr>
            <a:r>
              <a:t>• Separation of Concerns</a:t>
            </a:r>
          </a:p>
          <a:p>
            <a:pPr>
              <a:spcAft>
                <a:spcPts val="800"/>
              </a:spcAft>
              <a:defRPr sz="1600" b="0">
                <a:solidFill>
                  <a:srgbClr val="333333"/>
                </a:solidFill>
              </a:defRPr>
            </a:pPr>
            <a:r>
              <a:t>• Dependency Injection</a:t>
            </a:r>
          </a:p>
          <a:p>
            <a:pPr>
              <a:spcAft>
                <a:spcPts val="800"/>
              </a:spcAft>
              <a:defRPr sz="1600" b="0">
                <a:solidFill>
                  <a:srgbClr val="333333"/>
                </a:solidFill>
              </a:defRPr>
            </a:pPr>
            <a:r>
              <a:t>• Single Responsibility Principle</a:t>
            </a:r>
          </a:p>
          <a:p>
            <a:pPr>
              <a:spcAft>
                <a:spcPts val="800"/>
              </a:spcAft>
              <a:defRPr sz="1600" b="0">
                <a:solidFill>
                  <a:srgbClr val="333333"/>
                </a:solidFill>
              </a:defRPr>
            </a:pPr>
            <a:r>
              <a:t>• RESTful API design conventions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E64A19"/>
                </a:solidFill>
              </a:defRPr>
            </a:pPr>
            <a:r>
              <a:t>Challenges Faced &amp; Solutions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3200400" cy="4572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7680960" cy="1097280"/>
          </a:xfrm>
          <a:prstGeom prst="rect">
            <a:avLst/>
          </a:prstGeom>
          <a:solidFill>
            <a:srgbClr val="FFF8F0"/>
          </a:solidFill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64A19"/>
                </a:solidFill>
              </a:defRPr>
            </a:pPr>
            <a:r>
              <a:t>🔐 Security Implementation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Challenge: Implementing secure authentication and authorization</a:t>
            </a:r>
          </a:p>
          <a:p>
            <a:pPr>
              <a:defRPr sz="1400" b="1">
                <a:solidFill>
                  <a:srgbClr val="228B22"/>
                </a:solidFill>
              </a:defRPr>
            </a:pPr>
            <a:r>
              <a:t>Solution: Integrated Spring Security with custom user details service and password encoding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7680960" cy="1097280"/>
          </a:xfrm>
          <a:prstGeom prst="rect">
            <a:avLst/>
          </a:prstGeom>
          <a:solidFill>
            <a:srgbClr val="FFF8F0"/>
          </a:solidFill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64A19"/>
                </a:solidFill>
              </a:defRPr>
            </a:pPr>
            <a:r>
              <a:t>🎨 UI/UX Consistency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Challenge: Maintaining consistent design across multiple pages</a:t>
            </a:r>
          </a:p>
          <a:p>
            <a:pPr>
              <a:defRPr sz="1400" b="1">
                <a:solidFill>
                  <a:srgbClr val="228B22"/>
                </a:solidFill>
              </a:defRPr>
            </a:pPr>
            <a:r>
              <a:t>Solution: Created modular CSS files and reusable Thymeleaf templates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7680960" cy="1097280"/>
          </a:xfrm>
          <a:prstGeom prst="rect">
            <a:avLst/>
          </a:prstGeom>
          <a:solidFill>
            <a:srgbClr val="FFF8F0"/>
          </a:solidFill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64A19"/>
                </a:solidFill>
              </a:defRPr>
            </a:pPr>
            <a:r>
              <a:t>💾 Database Integration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Challenge: Managing complex entity relationships</a:t>
            </a:r>
          </a:p>
          <a:p>
            <a:pPr>
              <a:defRPr sz="1400" b="1">
                <a:solidFill>
                  <a:srgbClr val="228B22"/>
                </a:solidFill>
              </a:defRPr>
            </a:pPr>
            <a:r>
              <a:t>Solution: Utilized JPA annotations and Spring Data repositories for efficient data handling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E64A19"/>
                </a:solidFill>
              </a:defRPr>
            </a:pPr>
            <a:r>
              <a:t>Project Highlights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2560320" cy="4572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3566160" cy="1371600"/>
          </a:xfrm>
          <a:prstGeom prst="rect">
            <a:avLst/>
          </a:prstGeom>
          <a:solidFill>
            <a:srgbClr val="FFF8F0"/>
          </a:solidFill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200"/>
            </a:pPr>
            <a:r>
              <a:t>✨</a:t>
            </a:r>
          </a:p>
          <a:p>
            <a:pPr algn="ctr">
              <a:spcAft>
                <a:spcPts val="600"/>
              </a:spcAft>
              <a:defRPr sz="1800" b="1">
                <a:solidFill>
                  <a:srgbClr val="E64A19"/>
                </a:solidFill>
              </a:defRPr>
            </a:pPr>
            <a:r>
              <a:t>Production-Ready</a:t>
            </a:r>
          </a:p>
          <a:p>
            <a:pPr algn="ctr">
              <a:defRPr sz="1200">
                <a:solidFill>
                  <a:srgbClr val="333333"/>
                </a:solidFill>
              </a:defRPr>
            </a:pPr>
            <a:r>
              <a:t>Enterprise-grade code with proper error handling and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0" y="2011680"/>
            <a:ext cx="3566160" cy="1371600"/>
          </a:xfrm>
          <a:prstGeom prst="rect">
            <a:avLst/>
          </a:prstGeom>
          <a:solidFill>
            <a:srgbClr val="FFF8F0"/>
          </a:solidFill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200"/>
            </a:pPr>
            <a:r>
              <a:t>🚀</a:t>
            </a:r>
          </a:p>
          <a:p>
            <a:pPr algn="ctr">
              <a:spcAft>
                <a:spcPts val="600"/>
              </a:spcAft>
              <a:defRPr sz="1800" b="1">
                <a:solidFill>
                  <a:srgbClr val="E64A19"/>
                </a:solidFill>
              </a:defRPr>
            </a:pPr>
            <a:r>
              <a:t>Scalable Architecture</a:t>
            </a:r>
          </a:p>
          <a:p>
            <a:pPr algn="ctr">
              <a:defRPr sz="1200">
                <a:solidFill>
                  <a:srgbClr val="333333"/>
                </a:solidFill>
              </a:defRPr>
            </a:pPr>
            <a:r>
              <a:t>Modular design that supports future enhancements and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3566160" cy="1371600"/>
          </a:xfrm>
          <a:prstGeom prst="rect">
            <a:avLst/>
          </a:prstGeom>
          <a:solidFill>
            <a:srgbClr val="FFF8F0"/>
          </a:solidFill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200"/>
            </a:pPr>
            <a:r>
              <a:t>📱</a:t>
            </a:r>
          </a:p>
          <a:p>
            <a:pPr algn="ctr">
              <a:spcAft>
                <a:spcPts val="600"/>
              </a:spcAft>
              <a:defRPr sz="1800" b="1">
                <a:solidFill>
                  <a:srgbClr val="E64A19"/>
                </a:solidFill>
              </a:defRPr>
            </a:pPr>
            <a:r>
              <a:t>Responsive Design</a:t>
            </a:r>
          </a:p>
          <a:p>
            <a:pPr algn="ctr">
              <a:defRPr sz="1200">
                <a:solidFill>
                  <a:srgbClr val="333333"/>
                </a:solidFill>
              </a:defRPr>
            </a:pPr>
            <a:r>
              <a:t>Works seamlessly across desktop, tablet, and mobile devices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3840480"/>
            <a:ext cx="3566160" cy="1371600"/>
          </a:xfrm>
          <a:prstGeom prst="rect">
            <a:avLst/>
          </a:prstGeom>
          <a:solidFill>
            <a:srgbClr val="FFF8F0"/>
          </a:solidFill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200"/>
            </a:pPr>
            <a:r>
              <a:t>🔄</a:t>
            </a:r>
          </a:p>
          <a:p>
            <a:pPr algn="ctr">
              <a:spcAft>
                <a:spcPts val="600"/>
              </a:spcAft>
              <a:defRPr sz="1800" b="1">
                <a:solidFill>
                  <a:srgbClr val="E64A19"/>
                </a:solidFill>
              </a:defRPr>
            </a:pPr>
            <a:r>
              <a:t>Real-Time Operations</a:t>
            </a:r>
          </a:p>
          <a:p>
            <a:pPr algn="ctr">
              <a:defRPr sz="1200">
                <a:solidFill>
                  <a:srgbClr val="333333"/>
                </a:solidFill>
              </a:defRPr>
            </a:pPr>
            <a:r>
              <a:t>Dynamic content updates and seamless user interactions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E64A19"/>
                </a:solidFill>
              </a:defRPr>
            </a:pPr>
            <a:r>
              <a:t>Future Enhancements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2560320" cy="4572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333333"/>
                </a:solidFill>
              </a:defRPr>
            </a:pPr>
            <a:r>
              <a:t>🔮 Planned Features &amp; Improvements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333333"/>
                </a:solidFill>
              </a:defRPr>
            </a:pPr>
            <a:r>
              <a:t>💳 Payment Gateway Integration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Support for multiple payment methods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Secure online transactions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333333"/>
                </a:solidFill>
              </a:defRPr>
            </a:pPr>
            <a:r>
              <a:t>📍 Real-Time Order Tracking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Live order status updates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GPS-based delivery tracking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333333"/>
                </a:solidFill>
              </a:defRPr>
            </a:pPr>
            <a:r>
              <a:t>🤖 AI-Powered Recommendations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Personalized food suggestions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Smart ordering based on preferences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333333"/>
                </a:solidFill>
              </a:defRPr>
            </a:pPr>
            <a:r>
              <a:t>📊 Analytics Dashboard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Sales reports and insights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User behavior analytics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333333"/>
                </a:solidFill>
              </a:defRPr>
            </a:pPr>
            <a:r>
              <a:t>🌐 Multi-Language Support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</a:defRPr>
            </a:pPr>
            <a:r>
              <a:t>• Internationalization capabilities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E64A19"/>
                </a:solidFill>
              </a:defRPr>
            </a:pPr>
            <a: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1828800" cy="4572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7315200" cy="3200400"/>
          </a:xfrm>
          <a:prstGeom prst="rect">
            <a:avLst/>
          </a:prstGeom>
          <a:solidFill>
            <a:srgbClr val="FFF8F0"/>
          </a:solidFill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333333"/>
                </a:solidFill>
              </a:defRPr>
            </a:pPr>
            <a:r>
              <a:t>FoodFactory successfully demonstrates the implementation of a full-featured, production-ready food ordering platform using modern web technologies.</a:t>
            </a:r>
          </a:p>
          <a:p>
            <a:pPr>
              <a:spcAft>
                <a:spcPts val="800"/>
              </a:spcAft>
              <a:defRPr sz="1800" b="0">
                <a:solidFill>
                  <a:srgbClr val="333333"/>
                </a:solidFill>
              </a:defRPr>
            </a:pPr>
          </a:p>
          <a:p>
            <a:pPr>
              <a:spcAft>
                <a:spcPts val="800"/>
              </a:spcAft>
              <a:defRPr sz="1800" b="1">
                <a:solidFill>
                  <a:srgbClr val="333333"/>
                </a:solidFill>
              </a:defRPr>
            </a:pPr>
            <a:r>
              <a:t>Key Takeaways:</a:t>
            </a:r>
          </a:p>
          <a:p>
            <a:pPr>
              <a:spcAft>
                <a:spcPts val="800"/>
              </a:spcAft>
              <a:defRPr sz="1600" b="0">
                <a:solidFill>
                  <a:srgbClr val="228B22"/>
                </a:solidFill>
              </a:defRPr>
            </a:pPr>
            <a:r>
              <a:t>✓ Robust backend with Spring Boot and Spring Security</a:t>
            </a:r>
          </a:p>
          <a:p>
            <a:pPr>
              <a:spcAft>
                <a:spcPts val="800"/>
              </a:spcAft>
              <a:defRPr sz="1600" b="0">
                <a:solidFill>
                  <a:srgbClr val="228B22"/>
                </a:solidFill>
              </a:defRPr>
            </a:pPr>
            <a:r>
              <a:t>✓ Intuitive frontend with Thymeleaf and responsive design</a:t>
            </a:r>
          </a:p>
          <a:p>
            <a:pPr>
              <a:spcAft>
                <a:spcPts val="800"/>
              </a:spcAft>
              <a:defRPr sz="1600" b="0">
                <a:solidFill>
                  <a:srgbClr val="228B22"/>
                </a:solidFill>
              </a:defRPr>
            </a:pPr>
            <a:r>
              <a:t>✓ Scalable architecture following industry best practices</a:t>
            </a:r>
          </a:p>
          <a:p>
            <a:pPr>
              <a:spcAft>
                <a:spcPts val="800"/>
              </a:spcAft>
              <a:defRPr sz="1600" b="0">
                <a:solidFill>
                  <a:srgbClr val="228B22"/>
                </a:solidFill>
              </a:defRPr>
            </a:pPr>
            <a:r>
              <a:t>✓ Complete CRUD operations for users, admins, and products</a:t>
            </a:r>
          </a:p>
          <a:p>
            <a:pPr>
              <a:spcAft>
                <a:spcPts val="800"/>
              </a:spcAft>
              <a:defRPr sz="1800" b="0">
                <a:solidFill>
                  <a:srgbClr val="333333"/>
                </a:solidFill>
              </a:defRPr>
            </a:pPr>
          </a:p>
          <a:p>
            <a:pPr>
              <a:spcAft>
                <a:spcPts val="800"/>
              </a:spcAft>
              <a:defRPr sz="1800" b="0">
                <a:solidFill>
                  <a:srgbClr val="333333"/>
                </a:solidFill>
              </a:defRPr>
            </a:pPr>
            <a:r>
              <a:t>This project showcases practical application of full-stack development skills and serves as a solid foundation for real-world food delivery services.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4864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E64A19"/>
                </a:solidFill>
              </a:defRPr>
            </a:pPr>
            <a:r>
              <a:t>🔗 GitHub: github.com/imvaibhav100/Foodfactory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6000" b="1">
                <a:solidFill>
                  <a:srgbClr val="E64A19"/>
                </a:solidFill>
              </a:defRPr>
            </a:pPr>
            <a:r>
              <a:t>Questions &amp;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3891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333333"/>
                </a:solidFill>
              </a:defRPr>
            </a:pPr>
            <a:r>
              <a:t>Thank you for your attention! 🍽️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A500"/>
                </a:solidFill>
              </a:defRPr>
            </a:pPr>
            <a:r>
              <a:t>Feel free to ask any questions!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